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446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A2CB9-D7B7-75A7-B33A-CFB024BB9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C0ED90-347B-210A-64F0-4FE2BAE90E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0DF6D-AB73-DA64-FA73-41C9743E3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8ABD-28A3-40ED-858F-215A338B43F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421C0-D6A9-8CEC-53FD-47DBD64BB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7E51B-B49F-C241-32D8-1F8D9BA09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C634-D643-4398-BEFC-33CC002D8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305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E9F82-4E5C-CA5B-AD12-468E95FB6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62D98-C7A2-A52A-BB71-2DA92000C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0FB81-CA54-9735-1622-9D7E2CA9F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8ABD-28A3-40ED-858F-215A338B43F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48E08-681F-4170-BA53-6AF03D5B3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135D7-696E-F6C2-034A-0DA3F44F2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C634-D643-4398-BEFC-33CC002D8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300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C0B3A-7F90-0E8F-6F8A-9D0E29D76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1DF86-0E11-5633-A340-D29D03937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A9F4F-206E-AAF0-A52E-F669322A8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8ABD-28A3-40ED-858F-215A338B43F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286EE-EDC6-8FD7-6993-9310F05AC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16C5E-F3CD-ADC7-1CFA-4146C5A8C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C634-D643-4398-BEFC-33CC002D8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430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C6F3F-EBE1-505C-B5FF-72CA5C035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59BFE-B534-4956-033C-0FE7532000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2B92A0-B500-4B75-D576-F309BA9EF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46091-D7CC-354B-25EB-20087285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8ABD-28A3-40ED-858F-215A338B43F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A4135-4CCC-4E3A-592F-CF839133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F5D19-6065-2BE4-8FD3-E772F8B2C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C634-D643-4398-BEFC-33CC002D8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362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EA319-56BC-D4A4-FA86-A7500CFD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1E0D-4E6D-DDE8-D622-A80FDE6F3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CD102-71BA-9C52-6A30-4F1041414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CFCAE-46D7-54B2-2B3D-2494A4FDC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CB67E0-CD7C-49A6-E1F9-BE66A75EC8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99A9EB-DA5C-B9AC-B797-0F9A0274F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8ABD-28A3-40ED-858F-215A338B43F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7E7E4B-BB86-58D7-7F95-C7FC2BFA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234B1C-87B4-A8AC-FBCB-2A3BB1DC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C634-D643-4398-BEFC-33CC002D8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897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37CA9-2226-3BB9-3E81-692A9567E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3EBB81-1470-E411-D475-D768EE15A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8ABD-28A3-40ED-858F-215A338B43F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5ABF2-264D-1FCB-C173-37BCC2E30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616241-8607-11BE-4924-42A318D06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C634-D643-4398-BEFC-33CC002D8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289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6068E8-2B6A-45EE-3044-9A91F1CFA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8ABD-28A3-40ED-858F-215A338B43F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DD08DA-FDA6-00D1-2210-1EC8F8F32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46F58-350D-AE29-1429-A9A43C995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C634-D643-4398-BEFC-33CC002D8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644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301B9-D6BC-C927-5FE5-BAD01FC74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FDE30-DD65-C1B6-7386-E61931AFF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64026-CD46-38F9-12D0-613A068F0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CDA4F-725E-0B6E-D438-4276CA8FA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8ABD-28A3-40ED-858F-215A338B43F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25E01-EBD7-6888-5B48-A8CB7A3A4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9C0A5-894C-B96B-8A72-2501A3670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C634-D643-4398-BEFC-33CC002D8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282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D0E6-DE27-3C90-3C18-C8D6A9B6E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7DF9A4-BA9E-BBB9-F716-8ED68A01A5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BDEC6-0710-B488-2993-404AB901A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AFE4-86BD-5BE5-4997-57BB888AA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8ABD-28A3-40ED-858F-215A338B43F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3BFE2-B2ED-14B8-BAC2-50C704F34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B202D-2CD0-9DFF-26A5-8D03A487D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C634-D643-4398-BEFC-33CC002D8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394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5CB3D-AD4D-8FF5-574B-7499BCABA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ACE99-8C2C-3ACA-3639-18EC88B6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4D53E-31E0-C9DC-8C4E-6C364E1D8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8ABD-28A3-40ED-858F-215A338B43F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2CC42-7EFB-0508-F61E-48B62C2E4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3EDDB-F511-7494-EC7A-81B3B310C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C634-D643-4398-BEFC-33CC002D8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015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A477FC-EDAB-9D7E-14B6-47F7B3427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29D4D-B313-02D7-BD52-F13EBF11D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B65E8-A283-ADFF-CCD1-4580B59AD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8ABD-28A3-40ED-858F-215A338B43F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EBACE-E041-DA7A-3BD3-77BFAC6CF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2A28A-2AC8-2A5E-546B-4AA8968A8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C634-D643-4398-BEFC-33CC002D8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226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7C2597-312A-03EB-BB25-74B77724E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2692F-2DF0-B087-BB3A-4D1E7CD5A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FE989-52CC-935A-F923-E187C9BD5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CF8ABD-28A3-40ED-858F-215A338B43F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1EAE6-9757-F9F1-A86E-086B380C5E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689FF-30D6-FA64-40BC-C9E569ACAF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D7C634-D643-4398-BEFC-33CC002D8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581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19A5B1-6035-699C-44CB-65A6377F88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Module 3: Real-Time Energy Monitoring &amp; Alerts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3822F03-E86A-D1E2-CE8B-5CDD41452A3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45028" y="3017522"/>
            <a:ext cx="9941319" cy="31246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Continuously monitors energy usage of active devices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Calculates device-wise and total home consumption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Detects risky energy patterns (warning/critical)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Generates alerts before overload or bill spikes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Stores energy logs for analytics and reporting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110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35395-7068-759C-7ED9-ECC830337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IN" sz="5400"/>
              <a:t>Problem</a:t>
            </a:r>
            <a:r>
              <a:rPr lang="en-IN" sz="5400" dirty="0"/>
              <a:t>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CCAAFA-F95E-03F5-9F80-970A458421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9304" y="2902913"/>
            <a:ext cx="9849751" cy="30321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Multiple appliances run simultaneously (AC, fan, fridge, washing machine)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Users realize excess consumption only after receiving the electricity bill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No early warning system in traditional homes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0" i="0" u="sng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Risks caused by high usage: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Sudden power overload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Device damage / heating issues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Increased electricity bills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 sz="1700">
                <a:latin typeface="Arial" panose="020B0604020202020204" pitchFamily="34" charset="0"/>
              </a:rPr>
              <a:t> 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Emergency situations without awareness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845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0E818-07F9-B05E-AB3C-4F992E96D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395" y="0"/>
            <a:ext cx="9046579" cy="2216513"/>
          </a:xfrm>
        </p:spPr>
        <p:txBody>
          <a:bodyPr>
            <a:normAutofit/>
          </a:bodyPr>
          <a:lstStyle/>
          <a:p>
            <a:r>
              <a:rPr lang="en-US" dirty="0"/>
              <a:t>Integration with Module 1 &amp; Module 2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D158E9-6B13-7029-5853-67E62772AE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3395" y="3989948"/>
            <a:ext cx="6382966" cy="22165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Module 1 (Authentication):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verifies user identity and access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Module 2 (Device Management):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provides device status and power details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Module 3 (Energy Alerts):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reads active device list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tracks usage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generates safety alerts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88FE7D-C457-6ABC-D48F-040742AD9C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025" y="1747104"/>
            <a:ext cx="9046579" cy="1922398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57829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CC6601-F852-FF64-1691-EF040021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IN" sz="5200"/>
              <a:t>Purpose </a:t>
            </a:r>
            <a:br>
              <a:rPr lang="en-IN" sz="5200"/>
            </a:br>
            <a:r>
              <a:rPr lang="en-IN" sz="5200"/>
              <a:t>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CFAF8-8B07-F2B2-815F-C6BD66DF9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/>
              <a:t>Purpose:</a:t>
            </a:r>
            <a:endParaRPr lang="en-US" sz="2000"/>
          </a:p>
          <a:p>
            <a:r>
              <a:rPr lang="en-US" sz="2000"/>
              <a:t>Provide awareness and safety</a:t>
            </a:r>
          </a:p>
          <a:p>
            <a:r>
              <a:rPr lang="en-US" sz="2000"/>
              <a:t>Prevent overload and reduce energy wastage</a:t>
            </a:r>
          </a:p>
          <a:p>
            <a:r>
              <a:rPr lang="en-US" sz="2000"/>
              <a:t>Support smarter energy decisions</a:t>
            </a:r>
          </a:p>
          <a:p>
            <a:pPr marL="0" indent="0">
              <a:buNone/>
            </a:pPr>
            <a:r>
              <a:rPr lang="en-US" sz="2000" b="1"/>
              <a:t>Objectives:</a:t>
            </a:r>
            <a:endParaRPr lang="en-US" sz="2000"/>
          </a:p>
          <a:p>
            <a:r>
              <a:rPr lang="en-US" sz="2000"/>
              <a:t>Track energy usage in real time</a:t>
            </a:r>
          </a:p>
          <a:p>
            <a:r>
              <a:rPr lang="en-US" sz="2000"/>
              <a:t>Compare usage with safe threshold limits</a:t>
            </a:r>
          </a:p>
          <a:p>
            <a:r>
              <a:rPr lang="en-US" sz="2000"/>
              <a:t>Generate alerts (Normal / Warning / Critical)</a:t>
            </a:r>
          </a:p>
          <a:p>
            <a:r>
              <a:rPr lang="en-US" sz="2000"/>
              <a:t>Store historical logs for future analysis</a:t>
            </a:r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1299603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2D1B44-0300-628C-810C-A6E976F81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n-US" sz="3300"/>
              <a:t>Architecture of Energy Monitoring Module</a:t>
            </a:r>
            <a:endParaRPr lang="en-IN" sz="33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7D2C0E-69A9-AC1B-D54D-4BE3666AB4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5029" y="2524721"/>
            <a:ext cx="4991629" cy="36771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Controller Layer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sz="1800">
                <a:latin typeface="Arial" panose="020B0604020202020204" pitchFamily="34" charset="0"/>
              </a:rPr>
              <a:t>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eceives monitoring requests from UI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Service Layer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sz="1800">
                <a:latin typeface="Arial" panose="020B0604020202020204" pitchFamily="34" charset="0"/>
              </a:rPr>
              <a:t>C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alculates energy consumption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Decides alert level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Repository Layer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sz="1800">
                <a:latin typeface="Arial" panose="020B0604020202020204" pitchFamily="34" charset="0"/>
              </a:rPr>
              <a:t>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tores and retrieves energy usage records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Model Layer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sz="1800">
                <a:latin typeface="Arial" panose="020B0604020202020204" pitchFamily="34" charset="0"/>
              </a:rPr>
              <a:t>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tructured representation of energy logs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4124E0-8B74-B609-219B-4FCBA8F72C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1317" y="901032"/>
            <a:ext cx="2161603" cy="511622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0814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2" name="Rectangle 6161">
            <a:extLst>
              <a:ext uri="{FF2B5EF4-FFF2-40B4-BE49-F238E27FC236}">
                <a16:creationId xmlns:a16="http://schemas.microsoft.com/office/drawing/2014/main" id="{F0AED851-54B9-4765-92D2-F0BE443BE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7B409B-11F5-94EF-0A16-3721B7D6D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1856" y="2944090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Activity Diagram </a:t>
            </a:r>
          </a:p>
        </p:txBody>
      </p:sp>
      <p:sp>
        <p:nvSpPr>
          <p:cNvPr id="6164" name="Rectangle 6163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9" name="Rectangle 615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6824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57" name="Picture 13">
            <a:extLst>
              <a:ext uri="{FF2B5EF4-FFF2-40B4-BE49-F238E27FC236}">
                <a16:creationId xmlns:a16="http://schemas.microsoft.com/office/drawing/2014/main" id="{6BF0660B-601B-1843-6663-4D9B76A30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3507" y="733743"/>
            <a:ext cx="5536001" cy="5331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68" name="Group 6167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6048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169" name="Rectangle 6168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70" name="Rectangle 616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71" name="Rectangle 617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33226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7BAB-E8B4-9677-C199-B9329599C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Classes in Energy Monitoring Module</a:t>
            </a:r>
            <a:endParaRPr lang="en-IN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A82C88-112A-3DDC-2276-BED283D1C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402" y="2419893"/>
            <a:ext cx="4868119" cy="31630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/>
              <a:t>1) </a:t>
            </a:r>
            <a:r>
              <a:rPr lang="en-IN" b="1" dirty="0" err="1"/>
              <a:t>EnergyUsage</a:t>
            </a:r>
            <a:r>
              <a:rPr lang="en-IN" b="1" dirty="0"/>
              <a:t> (Model)</a:t>
            </a:r>
            <a:endParaRPr lang="en-IN" dirty="0"/>
          </a:p>
          <a:p>
            <a:r>
              <a:rPr lang="en-IN" dirty="0" err="1"/>
              <a:t>deviceId</a:t>
            </a:r>
            <a:r>
              <a:rPr lang="en-IN" dirty="0"/>
              <a:t>, </a:t>
            </a:r>
            <a:r>
              <a:rPr lang="en-IN" dirty="0" err="1"/>
              <a:t>energyUsed</a:t>
            </a:r>
            <a:r>
              <a:rPr lang="en-IN" dirty="0"/>
              <a:t>, time</a:t>
            </a:r>
          </a:p>
          <a:p>
            <a:pPr marL="0" indent="0"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2) </a:t>
            </a:r>
            <a:r>
              <a:rPr lang="en-IN" b="1" dirty="0" err="1"/>
              <a:t>EnergyController</a:t>
            </a:r>
            <a:endParaRPr lang="en-IN" dirty="0"/>
          </a:p>
          <a:p>
            <a:r>
              <a:rPr lang="en-IN" dirty="0" err="1"/>
              <a:t>recordEnergy</a:t>
            </a:r>
            <a:r>
              <a:rPr lang="en-IN" dirty="0"/>
              <a:t>(data)</a:t>
            </a:r>
          </a:p>
          <a:p>
            <a:r>
              <a:rPr lang="en-IN" dirty="0" err="1"/>
              <a:t>viewEnergy</a:t>
            </a:r>
            <a:r>
              <a:rPr lang="en-IN" dirty="0"/>
              <a:t>(</a:t>
            </a:r>
            <a:r>
              <a:rPr lang="en-IN" dirty="0" err="1"/>
              <a:t>deviceId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B05715-9BDF-432F-28ED-30B45F85453A}"/>
              </a:ext>
            </a:extLst>
          </p:cNvPr>
          <p:cNvSpPr txBox="1"/>
          <p:nvPr/>
        </p:nvSpPr>
        <p:spPr>
          <a:xfrm>
            <a:off x="6341481" y="2385953"/>
            <a:ext cx="535907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3) </a:t>
            </a:r>
            <a:r>
              <a:rPr lang="en-IN" sz="2400" b="1" dirty="0" err="1"/>
              <a:t>EnergyService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saveEnergy</a:t>
            </a:r>
            <a:r>
              <a:rPr lang="en-IN" sz="2400" dirty="0"/>
              <a:t>(data)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getEnergy</a:t>
            </a:r>
            <a:r>
              <a:rPr lang="en-IN" sz="2400" dirty="0"/>
              <a:t>(</a:t>
            </a:r>
            <a:r>
              <a:rPr lang="en-IN" sz="2400" dirty="0" err="1"/>
              <a:t>deviceId</a:t>
            </a:r>
            <a:r>
              <a:rPr lang="en-IN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threshold comparison logic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r>
              <a:rPr lang="en-IN" sz="2400" b="1" dirty="0"/>
              <a:t>4) </a:t>
            </a:r>
            <a:r>
              <a:rPr lang="en-IN" sz="2400" b="1" dirty="0" err="1"/>
              <a:t>EnergyRepository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save(data)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find(</a:t>
            </a:r>
            <a:r>
              <a:rPr lang="en-IN" sz="2400" dirty="0" err="1"/>
              <a:t>deviceId</a:t>
            </a:r>
            <a:r>
              <a:rPr lang="en-IN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6987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A249E-FE3F-A430-1FA8-2B1D454DB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de-DE" sz="4800" dirty="0"/>
              <a:t>Database Schema – Energy Usage Log</a:t>
            </a:r>
            <a:endParaRPr lang="en-IN" sz="4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A010236-FB07-CBA6-31AF-60356D1925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0037709"/>
              </p:ext>
            </p:extLst>
          </p:nvPr>
        </p:nvGraphicFramePr>
        <p:xfrm>
          <a:off x="1118889" y="3017519"/>
          <a:ext cx="9949866" cy="3209905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4292117">
                  <a:extLst>
                    <a:ext uri="{9D8B030D-6E8A-4147-A177-3AD203B41FA5}">
                      <a16:colId xmlns:a16="http://schemas.microsoft.com/office/drawing/2014/main" val="537320170"/>
                    </a:ext>
                  </a:extLst>
                </a:gridCol>
                <a:gridCol w="5657749">
                  <a:extLst>
                    <a:ext uri="{9D8B030D-6E8A-4147-A177-3AD203B41FA5}">
                      <a16:colId xmlns:a16="http://schemas.microsoft.com/office/drawing/2014/main" val="309218329"/>
                    </a:ext>
                  </a:extLst>
                </a:gridCol>
              </a:tblGrid>
              <a:tr h="641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/>
                        <a:t>Column</a:t>
                      </a:r>
                    </a:p>
                  </a:txBody>
                  <a:tcPr marL="145905" marR="145905" marT="72952" marB="729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/>
                        <a:t>Purpose</a:t>
                      </a:r>
                    </a:p>
                  </a:txBody>
                  <a:tcPr marL="145905" marR="145905" marT="72952" marB="72952" anchor="ctr"/>
                </a:tc>
                <a:extLst>
                  <a:ext uri="{0D108BD9-81ED-4DB2-BD59-A6C34878D82A}">
                    <a16:rowId xmlns:a16="http://schemas.microsoft.com/office/drawing/2014/main" val="3652108986"/>
                  </a:ext>
                </a:extLst>
              </a:tr>
              <a:tr h="641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/>
                        <a:t>usage_id (PK)</a:t>
                      </a:r>
                    </a:p>
                  </a:txBody>
                  <a:tcPr marL="145905" marR="145905" marT="72952" marB="729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/>
                        <a:t>unique record id</a:t>
                      </a:r>
                    </a:p>
                  </a:txBody>
                  <a:tcPr marL="145905" marR="145905" marT="72952" marB="72952" anchor="ctr"/>
                </a:tc>
                <a:extLst>
                  <a:ext uri="{0D108BD9-81ED-4DB2-BD59-A6C34878D82A}">
                    <a16:rowId xmlns:a16="http://schemas.microsoft.com/office/drawing/2014/main" val="2521397115"/>
                  </a:ext>
                </a:extLst>
              </a:tr>
              <a:tr h="641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dirty="0" err="1"/>
                        <a:t>device_id</a:t>
                      </a:r>
                      <a:r>
                        <a:rPr lang="en-IN" sz="2900" dirty="0"/>
                        <a:t> (FK)</a:t>
                      </a:r>
                    </a:p>
                  </a:txBody>
                  <a:tcPr marL="145905" marR="145905" marT="72952" marB="729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dirty="0"/>
                        <a:t>device reference</a:t>
                      </a:r>
                    </a:p>
                  </a:txBody>
                  <a:tcPr marL="145905" marR="145905" marT="72952" marB="72952" anchor="ctr"/>
                </a:tc>
                <a:extLst>
                  <a:ext uri="{0D108BD9-81ED-4DB2-BD59-A6C34878D82A}">
                    <a16:rowId xmlns:a16="http://schemas.microsoft.com/office/drawing/2014/main" val="1127159025"/>
                  </a:ext>
                </a:extLst>
              </a:tr>
              <a:tr h="641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/>
                        <a:t>energy_used</a:t>
                      </a:r>
                    </a:p>
                  </a:txBody>
                  <a:tcPr marL="145905" marR="145905" marT="72952" marB="729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/>
                        <a:t>calculated usage value</a:t>
                      </a:r>
                    </a:p>
                  </a:txBody>
                  <a:tcPr marL="145905" marR="145905" marT="72952" marB="72952" anchor="ctr"/>
                </a:tc>
                <a:extLst>
                  <a:ext uri="{0D108BD9-81ED-4DB2-BD59-A6C34878D82A}">
                    <a16:rowId xmlns:a16="http://schemas.microsoft.com/office/drawing/2014/main" val="1321963151"/>
                  </a:ext>
                </a:extLst>
              </a:tr>
              <a:tr h="641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/>
                        <a:t>time</a:t>
                      </a:r>
                    </a:p>
                  </a:txBody>
                  <a:tcPr marL="145905" marR="145905" marT="72952" marB="7295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 dirty="0"/>
                        <a:t>timestamp</a:t>
                      </a:r>
                    </a:p>
                  </a:txBody>
                  <a:tcPr marL="145905" marR="145905" marT="72952" marB="72952" anchor="ctr"/>
                </a:tc>
                <a:extLst>
                  <a:ext uri="{0D108BD9-81ED-4DB2-BD59-A6C34878D82A}">
                    <a16:rowId xmlns:a16="http://schemas.microsoft.com/office/drawing/2014/main" val="2233812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565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3F26E-367D-771C-B65B-6DFB20353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976" y="1675995"/>
            <a:ext cx="9849751" cy="30321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6600" dirty="0"/>
              <a:t>Thank you 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282105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7B574BF-395A-4406-8432-034844516E39}">
  <we:reference id="wa200005566" version="3.0.0.3" store="en-US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</TotalTime>
  <Words>323</Words>
  <Application>Microsoft Office PowerPoint</Application>
  <PresentationFormat>Widescreen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Module 3: Real-Time Energy Monitoring &amp; Alerts</vt:lpstr>
      <vt:lpstr>Problem Statement</vt:lpstr>
      <vt:lpstr>Integration with Module 1 &amp; Module 2</vt:lpstr>
      <vt:lpstr>Purpose  and Objectives</vt:lpstr>
      <vt:lpstr>Architecture of Energy Monitoring Module</vt:lpstr>
      <vt:lpstr>Activity Diagram </vt:lpstr>
      <vt:lpstr>Classes in Energy Monitoring Module</vt:lpstr>
      <vt:lpstr>Database Schema – Energy Usage Log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Prudhvini K</dc:creator>
  <cp:lastModifiedBy>Prudhvini K</cp:lastModifiedBy>
  <cp:revision>1</cp:revision>
  <dcterms:created xsi:type="dcterms:W3CDTF">2026-01-13T11:22:50Z</dcterms:created>
  <dcterms:modified xsi:type="dcterms:W3CDTF">2026-01-13T14:17:10Z</dcterms:modified>
</cp:coreProperties>
</file>