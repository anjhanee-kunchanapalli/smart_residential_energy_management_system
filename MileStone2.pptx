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59" r:id="rId5"/>
    <p:sldId id="263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81C2D-B473-6317-24AE-B22DD796B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F630F-543A-C473-6A30-5B374C5CF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A8934-A12C-C897-A891-6922D3EE5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29D5-1891-4030-BAA1-48BB2AA44E8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AC507-92CD-8B04-F9D3-A85B2FC1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B9337-1423-C620-2F9F-711B26BF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261-47C5-4E56-B375-69E697B83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314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49A2-7EFC-88B4-BD1F-91A7AC5EE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0D77B-225B-13CD-A08B-0444F1ADB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F0596-A267-3CC5-8FAD-8E9DC2925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29D5-1891-4030-BAA1-48BB2AA44E8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3CBF6-1B0D-E51A-592B-C3D54B46F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A00C8-CE39-0077-F20A-2B3ECEFD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261-47C5-4E56-B375-69E697B83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55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5934-DAB0-992C-2587-15D9BAF7B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895C5-2E60-8101-9F6E-4F1B413C6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08206-90AC-53F8-566B-0222BC7F6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29D5-1891-4030-BAA1-48BB2AA44E8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38F90-0A45-291F-165B-98C8BD6B4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8675B-A42A-1A9B-6D97-257A66C9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261-47C5-4E56-B375-69E697B83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88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97F4-4414-FCC2-3B91-EF65DF727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049F0-1570-BDBA-850F-A8D3FC047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8D3B4-70D3-1CE7-0C60-7D708F4A1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F3608-13C8-44B7-AE73-BC40909B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29D5-1891-4030-BAA1-48BB2AA44E8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D3639-66C3-DCA7-CE9C-338A6F18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8054F-E0E6-2ADF-E25A-1CF022CE5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261-47C5-4E56-B375-69E697B83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29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E4B2-D2F2-F3AB-C8A8-7332339DA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99D1B-4225-4D0F-5B8A-60D0396D7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BED28-8E90-8769-986E-4B80DE1EB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64E29-416D-DC41-BFB2-F03A62389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82A93-2D7D-F311-AE8B-479BC0AF5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BC192-232D-3A43-DCFD-63C332CC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29D5-1891-4030-BAA1-48BB2AA44E8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BE386-8B00-41D2-F075-27264C4E7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BAA580-939E-6B38-F439-354C01D2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261-47C5-4E56-B375-69E697B83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191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9F72-F425-E65E-A0B8-4FD32D61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0280F4-6367-6559-7021-4E2996CB6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29D5-1891-4030-BAA1-48BB2AA44E8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5AE614-B592-12A3-489A-99BD7582A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572F1-2B64-A5CA-C87B-645BDFF7D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261-47C5-4E56-B375-69E697B83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60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1E7BF-DEAC-771F-FCB3-2099F2B3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29D5-1891-4030-BAA1-48BB2AA44E8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EFE5B-2686-FA02-20D2-1CC260BD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525D4-939B-3799-D19C-4131F38D1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261-47C5-4E56-B375-69E697B83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62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87B1-9555-AF34-16AB-69D70B03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228D7-5E99-E470-EE6A-F8DD48982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4855B-9A1B-4333-6C5E-42CC71014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79C56-7786-A6E9-B16A-E3235B2E7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29D5-1891-4030-BAA1-48BB2AA44E8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82921-9A52-04E9-0EFA-205FAFAAF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22EFF-024E-F995-4D50-9BE756068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261-47C5-4E56-B375-69E697B83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472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E4F4-98D4-3708-AEB0-BEBF11D9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1733C-945A-7B7E-A161-964B870DF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32E31-B142-5224-35C2-0E4E93002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C6EDC-C5EA-601C-200C-346E0E315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29D5-1891-4030-BAA1-48BB2AA44E8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67E26-C601-4283-CE82-AC752D5E7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F093D-C81F-4E57-06C9-AF736E57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261-47C5-4E56-B375-69E697B83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219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6279-A101-4429-93FD-2048B767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DC964-A101-5661-7612-1FF718360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BD668-8B2C-3A72-1114-B1B9AB9A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29D5-1891-4030-BAA1-48BB2AA44E8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203D-DF3D-527F-D159-4711E95EB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1A7E0-D294-0298-66D6-D865D1BB6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261-47C5-4E56-B375-69E697B83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60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30B2B-F1E3-B326-A1C7-5AEFFC25A1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EC348-EB94-5587-B082-890EDA203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DB0F6-5FFD-51F0-36C6-27B5A037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29D5-1891-4030-BAA1-48BB2AA44E8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6E6DE-B7DB-3B69-0F8D-ABC08C3BA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64068-4C52-D504-ADDE-78A5AD72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A261-47C5-4E56-B375-69E697B83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64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2DC380-402D-0D56-E4A9-916009C92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CCCEC-716B-32AE-A879-0EAC4B79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28FC0-ED7C-ABBE-428C-C5F24CDA6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029D5-1891-4030-BAA1-48BB2AA44E8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B450A-C41E-BF72-98A0-D0BA79555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D4359-94ED-25AA-6A84-206FF55AF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5A261-47C5-4E56-B375-69E697B83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123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idsection of a person holding a miniature house">
            <a:extLst>
              <a:ext uri="{FF2B5EF4-FFF2-40B4-BE49-F238E27FC236}">
                <a16:creationId xmlns:a16="http://schemas.microsoft.com/office/drawing/2014/main" id="{7C686852-C150-7C94-398C-2FFEDBE77F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9727" b="988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512F2E-2052-F4A5-0BD3-3874DB77C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Smart Home Energy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B6585-95BE-84A6-4F72-571073B97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>
                <a:solidFill>
                  <a:srgbClr val="FFFFFF"/>
                </a:solidFill>
              </a:rPr>
              <a:t>Presented By Sri Anjhanee K</a:t>
            </a:r>
          </a:p>
        </p:txBody>
      </p:sp>
    </p:spTree>
    <p:extLst>
      <p:ext uri="{BB962C8B-B14F-4D97-AF65-F5344CB8AC3E}">
        <p14:creationId xmlns:p14="http://schemas.microsoft.com/office/powerpoint/2010/main" val="1041879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B3589-18A3-6203-A36F-9C63A13D7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is a SHME?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AA1A1-F9F0-CDAF-F2C4-39D215B94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Smart Home Energy Management System is a software solution that:</a:t>
            </a:r>
          </a:p>
          <a:p>
            <a:pPr lvl="1"/>
            <a:r>
              <a:rPr lang="en-US" sz="2000" dirty="0"/>
              <a:t>Monitors energy consumption of home appliances</a:t>
            </a:r>
          </a:p>
          <a:p>
            <a:pPr lvl="1"/>
            <a:r>
              <a:rPr lang="en-US" sz="2000" dirty="0"/>
              <a:t>Allows users to control devices remotely</a:t>
            </a:r>
          </a:p>
          <a:p>
            <a:pPr lvl="1"/>
            <a:r>
              <a:rPr lang="en-US" sz="2000" dirty="0"/>
              <a:t>Tracks real-time and historical energy usage</a:t>
            </a:r>
          </a:p>
          <a:p>
            <a:pPr lvl="1"/>
            <a:r>
              <a:rPr lang="en-US" sz="2000" dirty="0"/>
              <a:t>Automates device operations using schedules</a:t>
            </a:r>
          </a:p>
          <a:p>
            <a:pPr lvl="1"/>
            <a:r>
              <a:rPr lang="en-US" sz="2000" dirty="0"/>
              <a:t>Helps reduce electricity bills and power wastage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Why This System Is Needed</a:t>
            </a:r>
          </a:p>
          <a:p>
            <a:pPr lvl="1"/>
            <a:r>
              <a:rPr lang="en-US" sz="2000" dirty="0"/>
              <a:t>Increasing electricity costs</a:t>
            </a:r>
          </a:p>
          <a:p>
            <a:pPr lvl="1"/>
            <a:r>
              <a:rPr lang="en-US" sz="2000" dirty="0"/>
              <a:t>Lack of visibility into device-level consumption</a:t>
            </a:r>
          </a:p>
          <a:p>
            <a:pPr lvl="1"/>
            <a:r>
              <a:rPr lang="en-US" sz="2000" dirty="0"/>
              <a:t>Manual control leads to energy waste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05280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B217-E297-FCFD-EF86-E4CDB0EC8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580" y="413266"/>
            <a:ext cx="4018280" cy="935355"/>
          </a:xfrm>
        </p:spPr>
        <p:txBody>
          <a:bodyPr>
            <a:normAutofit/>
          </a:bodyPr>
          <a:lstStyle/>
          <a:p>
            <a:r>
              <a:rPr lang="en-IN" sz="2400" dirty="0"/>
              <a:t>SYSTEM 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ADD15F-DEA2-8BF5-E7F0-6D14AEB3B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263243"/>
              </p:ext>
            </p:extLst>
          </p:nvPr>
        </p:nvGraphicFramePr>
        <p:xfrm>
          <a:off x="1010920" y="4061814"/>
          <a:ext cx="10515600" cy="21945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808366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00761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26527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Modules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Name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Responsibility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623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login &amp; 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040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Smart Device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Device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246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Energy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Energy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218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Analytics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Usage insights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31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Scheduling &amp;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1914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95D4F5A-C171-52F8-C0CF-1CD14E467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5FE3BB8E-AA00-2E15-69A4-F33D5C510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5" t="29658" r="2140" b="8481"/>
          <a:stretch>
            <a:fillRect/>
          </a:stretch>
        </p:blipFill>
        <p:spPr bwMode="auto">
          <a:xfrm>
            <a:off x="1290320" y="1334048"/>
            <a:ext cx="9987280" cy="16984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2711E13-D1AD-1427-CAEA-CDDB64D0C36F}"/>
              </a:ext>
            </a:extLst>
          </p:cNvPr>
          <p:cNvSpPr txBox="1">
            <a:spLocks/>
          </p:cNvSpPr>
          <p:nvPr/>
        </p:nvSpPr>
        <p:spPr>
          <a:xfrm>
            <a:off x="4503419" y="3227161"/>
            <a:ext cx="3185160" cy="935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MODULE OVERVIEW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31481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5" name="Freeform: Shape 3084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87" name="Freeform: Shape 3086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5F820-7880-3EDF-6843-23414243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1069594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IN" sz="2600" dirty="0"/>
              <a:t>SMART DEVICE MANAGEMENT (MODULE 2)</a:t>
            </a:r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9E58-D368-198F-98A0-D6E396A72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Main Functionalities :</a:t>
            </a:r>
          </a:p>
          <a:p>
            <a:r>
              <a:rPr lang="en-US" sz="1700" dirty="0"/>
              <a:t>Add new smart devices</a:t>
            </a:r>
          </a:p>
          <a:p>
            <a:r>
              <a:rPr lang="en-US" sz="1700" dirty="0"/>
              <a:t>Store device details</a:t>
            </a:r>
          </a:p>
          <a:p>
            <a:r>
              <a:rPr lang="en-US" sz="1700" dirty="0"/>
              <a:t>Turn devices ON or OFF</a:t>
            </a:r>
          </a:p>
          <a:p>
            <a:r>
              <a:rPr lang="en-US" sz="1700" dirty="0"/>
              <a:t>Update device status</a:t>
            </a:r>
          </a:p>
          <a:p>
            <a:r>
              <a:rPr lang="en-US" sz="1700" dirty="0"/>
              <a:t>Track power usage per device</a:t>
            </a:r>
          </a:p>
          <a:p>
            <a:pPr marL="0" indent="0">
              <a:buNone/>
            </a:pPr>
            <a:endParaRPr lang="en-IN" sz="1700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73CE06E1-C5AD-37A2-36E9-60EF9A5412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0" t="19286" r="3940" b="8944"/>
          <a:stretch>
            <a:fillRect/>
          </a:stretch>
        </p:blipFill>
        <p:spPr bwMode="auto">
          <a:xfrm>
            <a:off x="4901184" y="1908615"/>
            <a:ext cx="6922008" cy="3141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893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5BADD-219F-2395-95D5-851E84728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ellipse">
            <a:avLst/>
          </a:prstGeo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STRUCTURE IN SMART DEVICE MANAGEMENT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6B457D8-205B-6B2F-C5F3-ECAB709E8E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0" t="9412" r="4931" b="8524"/>
          <a:stretch>
            <a:fillRect/>
          </a:stretch>
        </p:blipFill>
        <p:spPr bwMode="auto">
          <a:xfrm>
            <a:off x="5436822" y="643466"/>
            <a:ext cx="5461688" cy="556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585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C506-7432-F44E-FAA4-0F45BBB7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DETAILED CLASS DESIGN – MODULE 2</a:t>
            </a:r>
            <a:endParaRPr lang="en-IN" sz="2800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3F6FC595-7156-0DCA-97E7-9DEA173B09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7" t="14661" r="9591" b="11140"/>
          <a:stretch>
            <a:fillRect/>
          </a:stretch>
        </p:blipFill>
        <p:spPr bwMode="auto">
          <a:xfrm>
            <a:off x="1107440" y="1517968"/>
            <a:ext cx="958088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474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1"/>
            <a:ext cx="12191990" cy="168864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E6B8B-41BC-9032-1EB8-188BC2AD7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DATABASE SCHEMA</a:t>
            </a:r>
            <a:br>
              <a:rPr lang="en-IN" sz="2800" b="1" dirty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215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FED69A-E714-6344-6402-679DA4A02A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282258"/>
              </p:ext>
            </p:extLst>
          </p:nvPr>
        </p:nvGraphicFramePr>
        <p:xfrm>
          <a:off x="1291041" y="2261336"/>
          <a:ext cx="9618824" cy="3907482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225178">
                  <a:extLst>
                    <a:ext uri="{9D8B030D-6E8A-4147-A177-3AD203B41FA5}">
                      <a16:colId xmlns:a16="http://schemas.microsoft.com/office/drawing/2014/main" val="4205361012"/>
                    </a:ext>
                  </a:extLst>
                </a:gridCol>
                <a:gridCol w="5393646">
                  <a:extLst>
                    <a:ext uri="{9D8B030D-6E8A-4147-A177-3AD203B41FA5}">
                      <a16:colId xmlns:a16="http://schemas.microsoft.com/office/drawing/2014/main" val="3023664014"/>
                    </a:ext>
                  </a:extLst>
                </a:gridCol>
              </a:tblGrid>
              <a:tr h="651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Field Name</a:t>
                      </a:r>
                    </a:p>
                  </a:txBody>
                  <a:tcPr marL="148011" marR="148011" marT="74005" marB="7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Data Description</a:t>
                      </a:r>
                    </a:p>
                  </a:txBody>
                  <a:tcPr marL="148011" marR="148011" marT="74005" marB="74005" anchor="ctr"/>
                </a:tc>
                <a:extLst>
                  <a:ext uri="{0D108BD9-81ED-4DB2-BD59-A6C34878D82A}">
                    <a16:rowId xmlns:a16="http://schemas.microsoft.com/office/drawing/2014/main" val="2099037574"/>
                  </a:ext>
                </a:extLst>
              </a:tr>
              <a:tr h="651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device_id</a:t>
                      </a:r>
                    </a:p>
                  </a:txBody>
                  <a:tcPr marL="148011" marR="148011" marT="74005" marB="7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Primary Key</a:t>
                      </a:r>
                    </a:p>
                  </a:txBody>
                  <a:tcPr marL="148011" marR="148011" marT="74005" marB="74005" anchor="ctr"/>
                </a:tc>
                <a:extLst>
                  <a:ext uri="{0D108BD9-81ED-4DB2-BD59-A6C34878D82A}">
                    <a16:rowId xmlns:a16="http://schemas.microsoft.com/office/drawing/2014/main" val="550581258"/>
                  </a:ext>
                </a:extLst>
              </a:tr>
              <a:tr h="651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device_name</a:t>
                      </a:r>
                    </a:p>
                  </a:txBody>
                  <a:tcPr marL="148011" marR="148011" marT="74005" marB="7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Name of device</a:t>
                      </a:r>
                    </a:p>
                  </a:txBody>
                  <a:tcPr marL="148011" marR="148011" marT="74005" marB="74005" anchor="ctr"/>
                </a:tc>
                <a:extLst>
                  <a:ext uri="{0D108BD9-81ED-4DB2-BD59-A6C34878D82A}">
                    <a16:rowId xmlns:a16="http://schemas.microsoft.com/office/drawing/2014/main" val="2875028440"/>
                  </a:ext>
                </a:extLst>
              </a:tr>
              <a:tr h="651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device_type</a:t>
                      </a:r>
                    </a:p>
                  </a:txBody>
                  <a:tcPr marL="148011" marR="148011" marT="74005" marB="7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Type of appliance</a:t>
                      </a:r>
                    </a:p>
                  </a:txBody>
                  <a:tcPr marL="148011" marR="148011" marT="74005" marB="74005" anchor="ctr"/>
                </a:tc>
                <a:extLst>
                  <a:ext uri="{0D108BD9-81ED-4DB2-BD59-A6C34878D82A}">
                    <a16:rowId xmlns:a16="http://schemas.microsoft.com/office/drawing/2014/main" val="2863087427"/>
                  </a:ext>
                </a:extLst>
              </a:tr>
              <a:tr h="651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power_usage</a:t>
                      </a:r>
                    </a:p>
                  </a:txBody>
                  <a:tcPr marL="148011" marR="148011" marT="74005" marB="7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Energy consumed</a:t>
                      </a:r>
                    </a:p>
                  </a:txBody>
                  <a:tcPr marL="148011" marR="148011" marT="74005" marB="74005" anchor="ctr"/>
                </a:tc>
                <a:extLst>
                  <a:ext uri="{0D108BD9-81ED-4DB2-BD59-A6C34878D82A}">
                    <a16:rowId xmlns:a16="http://schemas.microsoft.com/office/drawing/2014/main" val="2323367753"/>
                  </a:ext>
                </a:extLst>
              </a:tr>
              <a:tr h="651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status</a:t>
                      </a:r>
                    </a:p>
                  </a:txBody>
                  <a:tcPr marL="148011" marR="148011" marT="74005" marB="7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ON / OFF</a:t>
                      </a:r>
                    </a:p>
                  </a:txBody>
                  <a:tcPr marL="148011" marR="148011" marT="74005" marB="74005" anchor="ctr"/>
                </a:tc>
                <a:extLst>
                  <a:ext uri="{0D108BD9-81ED-4DB2-BD59-A6C34878D82A}">
                    <a16:rowId xmlns:a16="http://schemas.microsoft.com/office/drawing/2014/main" val="843961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2728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2A5B7-8214-2C92-0429-04510D3F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575" y="1108310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!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18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F5BFC1-DCFB-40BF-BF52-83D38E2B207B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191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Smart Home Energy Management System</vt:lpstr>
      <vt:lpstr>What is a SHME?</vt:lpstr>
      <vt:lpstr>SYSTEM ARCHITECTURE</vt:lpstr>
      <vt:lpstr>SMART DEVICE MANAGEMENT (MODULE 2)</vt:lpstr>
      <vt:lpstr>CLASS STRUCTURE IN SMART DEVICE MANAGEMENT </vt:lpstr>
      <vt:lpstr>DETAILED CLASS DESIGN – MODULE 2</vt:lpstr>
      <vt:lpstr>DATABASE SCHEMA 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Prudhvini K</dc:creator>
  <cp:lastModifiedBy>Prudhvini K</cp:lastModifiedBy>
  <cp:revision>1</cp:revision>
  <dcterms:created xsi:type="dcterms:W3CDTF">2025-12-25T17:41:41Z</dcterms:created>
  <dcterms:modified xsi:type="dcterms:W3CDTF">2025-12-25T19:45:05Z</dcterms:modified>
</cp:coreProperties>
</file>